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notesMasterIdLst>
    <p:notesMasterId r:id="rId19"/>
  </p:notesMasterIdLst>
  <p:sldIdLst>
    <p:sldId id="256" r:id="rId2"/>
    <p:sldId id="257" r:id="rId3"/>
    <p:sldId id="258" r:id="rId4"/>
    <p:sldId id="272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70" r:id="rId14"/>
    <p:sldId id="271" r:id="rId15"/>
    <p:sldId id="267" r:id="rId16"/>
    <p:sldId id="268" r:id="rId17"/>
    <p:sldId id="269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55ABAB-6CFF-443E-8548-277886E168F9}" type="datetimeFigureOut">
              <a:rPr lang="en-ZA" smtClean="0"/>
              <a:t>2025/11/02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B7F1E6-AA39-4828-B836-5F9C69D7DFF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16625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purpose, dataset origin, and main challenge.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roles briefly.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96838-D49F-1CAA-63D5-EF6CC936F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3CE1D6-D1BA-5063-673A-6E117260CE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3ED6DE-739B-20D4-D3AA-F4A66ADA04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roles briefly.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929FD9-D6AE-D638-A57C-00B9579202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1571209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Summarize dataset composition.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Highlight how matching and splitting were handled.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why augmentation helps reduce overfitting.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Describe model rationale and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Mention the stability and performance trend.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Highlight why pseudo-labelling improved balance.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Discuss performance gain and interpretation.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threshold tuning and confusion insights.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B9ABA-5012-7C76-2BBF-166DFDEA5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71F865-E358-868C-759F-5F3F9BA8B7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E321B3-7894-B681-9A0C-27ACE1D18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threshold tuning and confusion insights.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BC0BD2-CB44-44C8-D2B0-0BD24FDC9C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7362473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68FE8-4D7E-27CC-6C16-B0466B2DD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ED363B-9D72-3319-8012-70ADDC65BA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5A38A8-3C5E-3D2B-EFCE-607CDEA30E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threshold tuning and confusion insights.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095135-D28E-6DFE-EC17-FB611ED090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8267637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Mention reproducibility and output generation.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Summarize results and outlook.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47" y="1122363"/>
            <a:ext cx="7773308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347" y="3602038"/>
            <a:ext cx="777330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505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3542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933" y="657227"/>
            <a:ext cx="7300134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933" y="3602039"/>
            <a:ext cx="7300134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19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6" y="2088320"/>
            <a:ext cx="3829503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0052" y="2088320"/>
            <a:ext cx="3820616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502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5427" y="2088320"/>
            <a:ext cx="3600326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346" y="2912232"/>
            <a:ext cx="3830406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9230" y="2088320"/>
            <a:ext cx="359143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912232"/>
            <a:ext cx="382151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958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241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767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2949178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8548" y="609600"/>
            <a:ext cx="4642119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7921" y="2971801"/>
            <a:ext cx="2949178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014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416760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49932" y="758881"/>
            <a:ext cx="2966938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971800"/>
            <a:ext cx="4171242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361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4289373"/>
            <a:ext cx="7775673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355" y="621322"/>
            <a:ext cx="7775673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74499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692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4204820"/>
            <a:ext cx="776532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0546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5" y="4204821"/>
            <a:ext cx="776532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05245" y="641749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6721" y="3073376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799116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2126943"/>
            <a:ext cx="7766495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650556"/>
            <a:ext cx="776532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3533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5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88320"/>
            <a:ext cx="2474217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911624"/>
            <a:ext cx="2474217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3658" y="2088320"/>
            <a:ext cx="2473919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3659" y="2911624"/>
            <a:ext cx="247486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088320"/>
            <a:ext cx="246840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2260" y="2911624"/>
            <a:ext cx="2468408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5938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7" y="3989147"/>
            <a:ext cx="247421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19015" y="2092235"/>
            <a:ext cx="2205038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7" y="4565409"/>
            <a:ext cx="2474216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26" y="3989147"/>
            <a:ext cx="247423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2092235"/>
            <a:ext cx="2197894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565408"/>
            <a:ext cx="2475252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0067" y="3989147"/>
            <a:ext cx="246742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14603" y="2092235"/>
            <a:ext cx="219908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973" y="4565410"/>
            <a:ext cx="2470694" cy="122579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6228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0660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0"/>
            <a:ext cx="1906993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6" y="609600"/>
            <a:ext cx="5744029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637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96064"/>
            <a:ext cx="776532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6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52482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07291"/>
            <a:ext cx="7772400" cy="1470025"/>
          </a:xfrm>
        </p:spPr>
        <p:txBody>
          <a:bodyPr>
            <a:normAutofit fontScale="90000"/>
          </a:bodyPr>
          <a:lstStyle/>
          <a:p>
            <a:r>
              <a:rPr dirty="0"/>
              <a:t>COS711 Assignment 3 — Automatically Labelling Radio Sources with Deep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915696"/>
            <a:ext cx="6400800" cy="1752600"/>
          </a:xfrm>
        </p:spPr>
        <p:txBody>
          <a:bodyPr>
            <a:normAutofit fontScale="77500" lnSpcReduction="20000"/>
          </a:bodyPr>
          <a:lstStyle/>
          <a:p>
            <a:r>
              <a:rPr dirty="0"/>
              <a:t>Astrophysics × Deep Learning × Python</a:t>
            </a:r>
          </a:p>
          <a:p>
            <a:r>
              <a:rPr dirty="0"/>
              <a:t>University of Pretoria — Department of Computer Science</a:t>
            </a:r>
          </a:p>
          <a:p>
            <a:r>
              <a:rPr dirty="0"/>
              <a:t>Team: Lerato </a:t>
            </a:r>
            <a:r>
              <a:rPr dirty="0" err="1"/>
              <a:t>Letsepe</a:t>
            </a:r>
            <a:r>
              <a:rPr dirty="0"/>
              <a:t>, Aidan Govender, Ettienne van Zyl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Developed a deep learning pipeline to classify radio source morphologies using MeerKAT data (MGCLS). Applied transfer learning and semi-supervised pseudo-labelling to handle limited labelled data.</a:t>
            </a:r>
          </a:p>
          <a:p>
            <a:endParaRPr/>
          </a:p>
          <a:p>
            <a:r>
              <a:t>Goal: Build a robust, multi-label classifier that generalizes to unlabelled data.</a:t>
            </a:r>
          </a:p>
          <a:p>
            <a:endParaRPr/>
          </a:p>
          <a:p>
            <a:r>
              <a:t>Notebook Ref: Cells 1–5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Members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Lerato </a:t>
            </a:r>
            <a:r>
              <a:rPr dirty="0" err="1"/>
              <a:t>Letsepe</a:t>
            </a:r>
            <a:r>
              <a:rPr dirty="0"/>
              <a:t> </a:t>
            </a:r>
            <a:endParaRPr lang="en-ZA" dirty="0"/>
          </a:p>
          <a:p>
            <a:r>
              <a:rPr dirty="0"/>
              <a:t>Aidan Govender</a:t>
            </a:r>
          </a:p>
          <a:p>
            <a:r>
              <a:rPr dirty="0"/>
              <a:t>Ettienne van </a:t>
            </a:r>
            <a:r>
              <a:rPr lang="en-ZA" dirty="0"/>
              <a:t>Zyl</a:t>
            </a:r>
          </a:p>
          <a:p>
            <a:pPr marL="0" indent="0">
              <a:buNone/>
            </a:pPr>
            <a:endParaRPr lang="en-ZA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4A4E3-1626-46E9-BCA9-29671D536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18F91-8545-6DEE-1C29-8125A5EA4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Methodology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D5383-9E7D-F1DD-4488-C138F7B288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810" y="1935922"/>
            <a:ext cx="7765322" cy="3695136"/>
          </a:xfrm>
        </p:spPr>
        <p:txBody>
          <a:bodyPr>
            <a:normAutofit fontScale="250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sz="4800" b="1" dirty="0">
                <a:effectLst/>
              </a:rPr>
              <a:t>Data Preparation &amp; Augmentation:</a:t>
            </a:r>
            <a:endParaRPr lang="en-GB" sz="4800" dirty="0">
              <a:effectLst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GB" sz="4800" dirty="0">
                <a:effectLst/>
              </a:rPr>
              <a:t>Implementing a robust coordinate-matching algorithm to link labels with images.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sz="4800" dirty="0">
                <a:effectLst/>
              </a:rPr>
              <a:t>Analysing class distribution and devising a strategy for handling severe class imbalance.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sz="4800" dirty="0">
                <a:effectLst/>
              </a:rPr>
              <a:t>Applying data augmentation techniques (rotations, flips, etc.) to expand the small training set and prevent overfitting.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4800" b="1" dirty="0">
                <a:effectLst/>
              </a:rPr>
              <a:t>Baseline Model Development:</a:t>
            </a:r>
            <a:endParaRPr lang="en-GB" sz="4800" dirty="0">
              <a:effectLst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GB" sz="4800" dirty="0">
                <a:effectLst/>
              </a:rPr>
              <a:t>Establishing a baseline using a pre-trained Convolutional Neural Network (CNN) via </a:t>
            </a:r>
            <a:r>
              <a:rPr lang="en-GB" sz="4800" b="1" dirty="0">
                <a:effectLst/>
              </a:rPr>
              <a:t>transfer learning</a:t>
            </a:r>
            <a:r>
              <a:rPr lang="en-GB" sz="4800" dirty="0">
                <a:effectLst/>
              </a:rPr>
              <a:t>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sz="4800" dirty="0">
                <a:effectLst/>
              </a:rPr>
              <a:t>Fine-tuning the model on the human-labelled dataset.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4800" b="1" dirty="0">
                <a:effectLst/>
              </a:rPr>
              <a:t>Classification Enhancement:</a:t>
            </a:r>
            <a:endParaRPr lang="en-GB" sz="4800" dirty="0">
              <a:effectLst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GB" sz="4800" dirty="0">
                <a:effectLst/>
              </a:rPr>
              <a:t>Implementing a </a:t>
            </a:r>
            <a:r>
              <a:rPr lang="en-GB" sz="4800" b="1" dirty="0">
                <a:effectLst/>
              </a:rPr>
              <a:t>pseudo-labelling</a:t>
            </a:r>
            <a:r>
              <a:rPr lang="en-GB" sz="4800" dirty="0">
                <a:effectLst/>
              </a:rPr>
              <a:t> pipeline to leverage the 13,821 unlabelled images. This involves using the baseline model to generate labels, filtering by confidence, and re-training on the combined human- and pseudo-labelled dataset.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4800" b="1" dirty="0">
                <a:effectLst/>
              </a:rPr>
              <a:t>Evaluation &amp; Analysis:</a:t>
            </a:r>
            <a:endParaRPr lang="en-GB" sz="4800" dirty="0">
              <a:effectLst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GB" sz="4800" dirty="0">
                <a:effectLst/>
              </a:rPr>
              <a:t>Evaluating the model using appropriate multi-label classification metrics (e.g., F1-score, precision, recall).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sz="4800" dirty="0" err="1">
                <a:effectLst/>
              </a:rPr>
              <a:t>Analyzing</a:t>
            </a:r>
            <a:r>
              <a:rPr lang="en-GB" sz="4800" dirty="0">
                <a:effectLst/>
              </a:rPr>
              <a:t> model performance on both common and rare classes.</a:t>
            </a:r>
          </a:p>
          <a:p>
            <a:pPr lvl="1"/>
            <a:endParaRPr lang="en-GB" dirty="0">
              <a:effectLst/>
            </a:endParaRPr>
          </a:p>
          <a:p>
            <a:pPr marL="0" indent="0">
              <a:buNone/>
            </a:pP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383942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t>Dataset Source: MGCLS (MeerKAT Galaxy Cluster Legacy Survey)</a:t>
            </a:r>
          </a:p>
          <a:p>
            <a:endParaRPr/>
          </a:p>
          <a:p>
            <a:r>
              <a:t>typ.zip — 2,049 images (common sources)</a:t>
            </a:r>
          </a:p>
          <a:p>
            <a:r>
              <a:t>exo.zip — 59 images (rare sources)</a:t>
            </a:r>
          </a:p>
          <a:p>
            <a:r>
              <a:t>unl.zip — 13,821 images (unlabelled)</a:t>
            </a:r>
          </a:p>
          <a:p>
            <a:endParaRPr/>
          </a:p>
          <a:p>
            <a:r>
              <a:t>Labels: ['Bent', 'Exotic', 'Fr I', 'Fr II', 'Point Source', 'S/Z Shaped', 'Should Be Discarded', 'Typical', 'X Shaped']</a:t>
            </a:r>
          </a:p>
          <a:p>
            <a:endParaRPr/>
          </a:p>
          <a:p>
            <a:r>
              <a:t>Notebook Ref: Cells 6–10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Preparation &amp;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• KD-tree coordinate matching between labels and images</a:t>
            </a:r>
          </a:p>
          <a:p>
            <a:r>
              <a:t>• Corrupted images flagged as 'Should be Discarded'</a:t>
            </a:r>
          </a:p>
          <a:p>
            <a:r>
              <a:t>• One-hot multi-label encoding applied</a:t>
            </a:r>
          </a:p>
          <a:p>
            <a:r>
              <a:t>• Stratified train-validation split to preserve rare classes</a:t>
            </a:r>
          </a:p>
          <a:p>
            <a:endParaRPr/>
          </a:p>
          <a:p>
            <a:r>
              <a:t>Train: 1790 | Validation: 317</a:t>
            </a:r>
          </a:p>
          <a:p>
            <a:endParaRPr/>
          </a:p>
          <a:p>
            <a:r>
              <a:t>Notebook Ref: Cells 11–12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Augmentation &amp;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Applied strong augmentations: flips, rotations, random crops, and color jitter.</a:t>
            </a:r>
          </a:p>
          <a:p>
            <a:r>
              <a:t>All images resized to 160×160, normalized to ImageNet mean/std.</a:t>
            </a:r>
          </a:p>
          <a:p>
            <a:endParaRPr/>
          </a:p>
          <a:p>
            <a:r>
              <a:t>Notebook Ref: Cell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EfficientNetV2 (S and M variants)</a:t>
            </a:r>
          </a:p>
          <a:p>
            <a:r>
              <a:t>• Pretrained on ImageNet</a:t>
            </a:r>
          </a:p>
          <a:p>
            <a:r>
              <a:t>• Final layer replaced with 9 sigmoid outputs</a:t>
            </a:r>
          </a:p>
          <a:p>
            <a:r>
              <a:t>• BCEWithLogitsLoss for independent probabilities</a:t>
            </a:r>
          </a:p>
          <a:p>
            <a:r>
              <a:t>• Optimizer: AdamW + OneCycleLR</a:t>
            </a:r>
          </a:p>
          <a:p>
            <a:endParaRPr/>
          </a:p>
          <a:p>
            <a:r>
              <a:t>Notebook Ref: Cells 17–18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Epochs: 30–40 | Batch size: </a:t>
            </a:r>
            <a:r>
              <a:rPr lang="en-ZA" dirty="0"/>
              <a:t>16</a:t>
            </a:r>
            <a:r>
              <a:rPr dirty="0"/>
              <a:t> | Early stopping (patience=</a:t>
            </a:r>
            <a:r>
              <a:rPr lang="en-ZA" dirty="0"/>
              <a:t>7</a:t>
            </a:r>
            <a:r>
              <a:rPr dirty="0"/>
              <a:t>)</a:t>
            </a:r>
          </a:p>
          <a:p>
            <a:r>
              <a:rPr dirty="0"/>
              <a:t>Validation metric: macro-F1</a:t>
            </a:r>
          </a:p>
          <a:p>
            <a:r>
              <a:rPr dirty="0"/>
              <a:t>Model saved as </a:t>
            </a:r>
            <a:r>
              <a:rPr dirty="0" err="1"/>
              <a:t>best_final_enhanced_model.pth</a:t>
            </a:r>
            <a:endParaRPr dirty="0"/>
          </a:p>
          <a:p>
            <a:endParaRPr dirty="0"/>
          </a:p>
          <a:p>
            <a:r>
              <a:rPr dirty="0"/>
              <a:t>Notebook Ref: Cells 21–22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Pseudo-Labelling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dirty="0"/>
              <a:t>Steps:</a:t>
            </a:r>
          </a:p>
          <a:p>
            <a:pPr marL="457200" indent="-457200">
              <a:buFont typeface="+mj-lt"/>
              <a:buAutoNum type="arabicPeriod"/>
            </a:pPr>
            <a:r>
              <a:rPr dirty="0"/>
              <a:t>Train baseline model</a:t>
            </a:r>
          </a:p>
          <a:p>
            <a:pPr marL="457200" indent="-457200">
              <a:buFont typeface="+mj-lt"/>
              <a:buAutoNum type="arabicPeriod"/>
            </a:pPr>
            <a:r>
              <a:rPr dirty="0"/>
              <a:t>Infer probabilities on 13,821 </a:t>
            </a:r>
            <a:r>
              <a:rPr dirty="0" err="1"/>
              <a:t>unlabelled</a:t>
            </a:r>
            <a:r>
              <a:rPr dirty="0"/>
              <a:t> images</a:t>
            </a:r>
          </a:p>
          <a:p>
            <a:pPr marL="457200" indent="-457200">
              <a:buFont typeface="+mj-lt"/>
              <a:buAutoNum type="arabicPeriod"/>
            </a:pPr>
            <a:r>
              <a:rPr dirty="0"/>
              <a:t>Select top-K (K=200) per class</a:t>
            </a:r>
          </a:p>
          <a:p>
            <a:pPr marL="457200" indent="-457200">
              <a:buFont typeface="+mj-lt"/>
              <a:buAutoNum type="arabicPeriod"/>
            </a:pPr>
            <a:r>
              <a:rPr dirty="0"/>
              <a:t>Filter low-confidence labels</a:t>
            </a:r>
          </a:p>
          <a:p>
            <a:pPr marL="457200" indent="-457200">
              <a:buFont typeface="+mj-lt"/>
              <a:buAutoNum type="arabicPeriod"/>
            </a:pPr>
            <a:r>
              <a:rPr dirty="0"/>
              <a:t>Retrain on combined dataset</a:t>
            </a:r>
          </a:p>
          <a:p>
            <a:endParaRPr dirty="0"/>
          </a:p>
          <a:p>
            <a:r>
              <a:rPr dirty="0"/>
              <a:t>~1,600 pseudo-labelled samples added.</a:t>
            </a:r>
          </a:p>
          <a:p>
            <a:endParaRPr dirty="0"/>
          </a:p>
          <a:p>
            <a:r>
              <a:rPr dirty="0"/>
              <a:t>Notebook Ref: Cells 27–31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dirty="0"/>
              <a:t>Baseline (EfficientNetV2-S): Macro-F1 = 0.4</a:t>
            </a:r>
            <a:r>
              <a:rPr lang="en-ZA" dirty="0"/>
              <a:t>660</a:t>
            </a:r>
            <a:endParaRPr dirty="0"/>
          </a:p>
          <a:p>
            <a:r>
              <a:rPr dirty="0"/>
              <a:t>Enhanced (EfficientNetV2-M + pseudo-labels): Macro-F1 = 0.5</a:t>
            </a:r>
            <a:r>
              <a:rPr lang="en-ZA" dirty="0"/>
              <a:t>284</a:t>
            </a:r>
            <a:endParaRPr dirty="0"/>
          </a:p>
          <a:p>
            <a:endParaRPr dirty="0"/>
          </a:p>
          <a:p>
            <a:r>
              <a:rPr dirty="0"/>
              <a:t>Per-Class F1 Improvements:</a:t>
            </a:r>
          </a:p>
          <a:p>
            <a:r>
              <a:rPr dirty="0"/>
              <a:t>Bent: 0.52→0.59 | Exotic: 0.5→1.0 | Fr II: 0.69→0.74 | Typical: 0.31→0.57</a:t>
            </a:r>
          </a:p>
          <a:p>
            <a:endParaRPr dirty="0"/>
          </a:p>
          <a:p>
            <a:r>
              <a:rPr dirty="0"/>
              <a:t>Notebook Ref: Cells 33–36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Threshold optimization (0.45–0.86) improved rare class accuracy</a:t>
            </a:r>
          </a:p>
          <a:p>
            <a:r>
              <a:t>• Confusion matrix shows clearer FR I/II separability</a:t>
            </a:r>
          </a:p>
          <a:p>
            <a:r>
              <a:t>• X-shaped remains low due to limited examples</a:t>
            </a:r>
          </a:p>
          <a:p>
            <a:endParaRPr/>
          </a:p>
          <a:p>
            <a:r>
              <a:t>Notebook Ref: Cells 35–37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32FEC-DAA6-19CD-22B4-E424D1837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21C83-5F70-1205-E0B8-238938B18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err="1"/>
              <a:t>SAMple</a:t>
            </a:r>
            <a:r>
              <a:rPr lang="en-ZA" dirty="0"/>
              <a:t> Predictions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772473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96647-A6E5-FDA8-EBD2-C19A45525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538D9-AB41-8A41-E893-9CFFEFBE5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Class DISTRIBUTION Visual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563869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Included Files:</a:t>
            </a:r>
          </a:p>
          <a:p>
            <a:r>
              <a:t>- COS711_Assignment_3_Submission_Notebook.ipynb</a:t>
            </a:r>
          </a:p>
          <a:p>
            <a:r>
              <a:t>- test_labels.csv</a:t>
            </a:r>
          </a:p>
          <a:p>
            <a:r>
              <a:t>- generated_labels.csv</a:t>
            </a:r>
          </a:p>
          <a:p>
            <a:r>
              <a:t>- Presentation + Script</a:t>
            </a:r>
          </a:p>
          <a:p>
            <a:endParaRPr/>
          </a:p>
          <a:p>
            <a:r>
              <a:t>Notebook Ref: Cells 38–40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Conclusions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t>• Transfer learning + pseudo-labelling improved macro-F1 by 11%.</a:t>
            </a:r>
          </a:p>
          <a:p>
            <a:r>
              <a:t>• Balanced class representation via Top-K pseudo-labelling.</a:t>
            </a:r>
          </a:p>
          <a:p>
            <a:endParaRPr/>
          </a:p>
          <a:p>
            <a:r>
              <a:t>Future:</a:t>
            </a:r>
          </a:p>
          <a:p>
            <a:r>
              <a:t>• Self-supervised pretraining (SimCLR/BYOL)</a:t>
            </a:r>
          </a:p>
          <a:p>
            <a:r>
              <a:t>• Ensemble CNN + ViT models</a:t>
            </a:r>
          </a:p>
          <a:p>
            <a:r>
              <a:t>• Active human feedback for rare morphologies</a:t>
            </a:r>
          </a:p>
          <a:p>
            <a:endParaRPr/>
          </a:p>
          <a:p>
            <a:r>
              <a:t>Notebook Ref: Cells 41–42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6D8D95E-0EE6-6230-DB28-9F2F04E515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240535"/>
              </p:ext>
            </p:extLst>
          </p:nvPr>
        </p:nvGraphicFramePr>
        <p:xfrm>
          <a:off x="266700" y="312868"/>
          <a:ext cx="8682228" cy="6246429"/>
        </p:xfrm>
        <a:graphic>
          <a:graphicData uri="http://schemas.openxmlformats.org/drawingml/2006/table">
            <a:tbl>
              <a:tblPr/>
              <a:tblGrid>
                <a:gridCol w="4265987">
                  <a:extLst>
                    <a:ext uri="{9D8B030D-6E8A-4147-A177-3AD203B41FA5}">
                      <a16:colId xmlns:a16="http://schemas.microsoft.com/office/drawing/2014/main" val="1590400311"/>
                    </a:ext>
                  </a:extLst>
                </a:gridCol>
                <a:gridCol w="4265987">
                  <a:extLst>
                    <a:ext uri="{9D8B030D-6E8A-4147-A177-3AD203B41FA5}">
                      <a16:colId xmlns:a16="http://schemas.microsoft.com/office/drawing/2014/main" val="4236033852"/>
                    </a:ext>
                  </a:extLst>
                </a:gridCol>
                <a:gridCol w="150254">
                  <a:extLst>
                    <a:ext uri="{9D8B030D-6E8A-4147-A177-3AD203B41FA5}">
                      <a16:colId xmlns:a16="http://schemas.microsoft.com/office/drawing/2014/main" val="825722747"/>
                    </a:ext>
                  </a:extLst>
                </a:gridCol>
              </a:tblGrid>
              <a:tr h="18449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ZA" sz="1000" b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Section</a:t>
                      </a:r>
                      <a:endParaRPr lang="en-ZA" sz="10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356" marR="18356" marT="12237" marB="122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000" b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 Take-Aways for the Presentation</a:t>
                      </a:r>
                      <a:endParaRPr lang="en-GB" sz="10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356" marR="18356" marT="12237" marB="122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7">
                  <a:txBody>
                    <a:bodyPr/>
                    <a:lstStyle/>
                    <a:p>
                      <a:pPr rtl="0">
                        <a:buNone/>
                      </a:pPr>
                      <a:endParaRPr lang="en-ZA" sz="10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356" marR="18356" marT="12237" marB="122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4262285"/>
                  </a:ext>
                </a:extLst>
              </a:tr>
              <a:tr h="934174">
                <a:tc rowSpan="2"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ZA" sz="10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Main Take-Aways</a:t>
                      </a:r>
                      <a:endParaRPr lang="en-ZA" sz="10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356" marR="18356" marT="12237" marB="122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 </a:t>
                      </a:r>
                      <a:r>
                        <a:rPr lang="en-GB" sz="10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Transfer Learning is Essential:</a:t>
                      </a:r>
                      <a:r>
                        <a:rPr lang="en-GB" sz="1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Leveraging the pre-trained weights of </a:t>
                      </a:r>
                      <a:r>
                        <a:rPr lang="en-GB" sz="10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EfficientNetV2-M</a:t>
                      </a:r>
                      <a:r>
                        <a:rPr lang="en-GB" sz="1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was crucial for achieving an </a:t>
                      </a:r>
                      <a:r>
                        <a:rPr lang="en-GB" sz="10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11.8% Macro-F1 improvement</a:t>
                      </a:r>
                      <a:r>
                        <a:rPr lang="en-GB" sz="1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with only </a:t>
                      </a:r>
                      <a:r>
                        <a:rPr lang="en-GB" sz="10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~2,000 labelled samples</a:t>
                      </a:r>
                      <a:r>
                        <a:rPr lang="en-GB" sz="1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</a:txBody>
                  <a:tcPr marL="18356" marR="18356" marT="12237" marB="122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rtl="0">
                        <a:buNone/>
                      </a:pPr>
                      <a:endParaRPr lang="en-GB" sz="10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356" marR="18356" marT="12237" marB="122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9287870"/>
                  </a:ext>
                </a:extLst>
              </a:tr>
              <a:tr h="1086472">
                <a:tc vMerge="1">
                  <a:txBody>
                    <a:bodyPr/>
                    <a:lstStyle/>
                    <a:p>
                      <a:pPr rtl="0">
                        <a:buNone/>
                      </a:pPr>
                      <a:endParaRPr lang="en-ZA" sz="10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356" marR="18356" marT="12237" marB="122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0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 </a:t>
                      </a:r>
                      <a:r>
                        <a:rPr lang="en-GB" sz="1000" b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Pseudo-Labelling is Viable:</a:t>
                      </a:r>
                      <a:r>
                        <a:rPr lang="en-GB" sz="10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Using high-confidence pseudo-labels from the </a:t>
                      </a:r>
                      <a:r>
                        <a:rPr lang="en-GB" sz="1000" b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13,821 unlabelled images</a:t>
                      </a:r>
                      <a:r>
                        <a:rPr lang="en-GB" sz="10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successfully boosted the performance of </a:t>
                      </a:r>
                      <a:r>
                        <a:rPr lang="en-GB" sz="1000" b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rare classes (e.g., Exotic, X-Shaped)</a:t>
                      </a:r>
                      <a:r>
                        <a:rPr lang="en-GB" sz="10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confirming the viability of the semi-supervised approach for radio data.</a:t>
                      </a:r>
                    </a:p>
                  </a:txBody>
                  <a:tcPr marL="18356" marR="18356" marT="12237" marB="122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rtl="0">
                        <a:buNone/>
                      </a:pPr>
                      <a:endParaRPr lang="en-GB" sz="10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356" marR="18356" marT="12237" marB="122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5895767"/>
                  </a:ext>
                </a:extLst>
              </a:tr>
              <a:tr h="1086472">
                <a:tc rowSpan="2"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ZA" sz="10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Biggest Roadblocks</a:t>
                      </a:r>
                      <a:endParaRPr lang="en-ZA" sz="10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356" marR="18356" marT="12237" marB="122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 </a:t>
                      </a:r>
                      <a:r>
                        <a:rPr lang="en-GB" sz="10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Scarcity &amp; Imbalance:</a:t>
                      </a:r>
                      <a:r>
                        <a:rPr lang="en-GB" sz="1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The most significant challenge was the </a:t>
                      </a:r>
                      <a:r>
                        <a:rPr lang="en-GB" sz="10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severe class imbalance</a:t>
                      </a:r>
                      <a:r>
                        <a:rPr lang="en-GB" sz="1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(e.g., 59 'Exotic' vs. 2,049 'Typical' images), which required a multi-pronged approach (weighted loss, stratified split, heavy augmentation).</a:t>
                      </a:r>
                    </a:p>
                  </a:txBody>
                  <a:tcPr marL="18356" marR="18356" marT="12237" marB="122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rtl="0">
                        <a:buNone/>
                      </a:pPr>
                      <a:endParaRPr lang="en-GB" sz="10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356" marR="18356" marT="12237" marB="122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0312940"/>
                  </a:ext>
                </a:extLst>
              </a:tr>
              <a:tr h="1086472">
                <a:tc vMerge="1">
                  <a:txBody>
                    <a:bodyPr/>
                    <a:lstStyle/>
                    <a:p>
                      <a:pPr rtl="0">
                        <a:buNone/>
                      </a:pPr>
                      <a:endParaRPr lang="en-ZA" sz="10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356" marR="18356" marT="12237" marB="122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0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 </a:t>
                      </a:r>
                      <a:r>
                        <a:rPr lang="en-GB" sz="1000" b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Threshold Sensitivity:</a:t>
                      </a:r>
                      <a:r>
                        <a:rPr lang="en-GB" sz="10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Optimizing the per-class output thresholds (ranging from 0.45 to 0.86) was necessary to balance Precision and Recall for rare classes. This process was </a:t>
                      </a:r>
                      <a:r>
                        <a:rPr lang="en-GB" sz="1000" b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highly manual</a:t>
                      </a:r>
                      <a:r>
                        <a:rPr lang="en-GB" sz="10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and sensitive to minor validation set changes.</a:t>
                      </a:r>
                    </a:p>
                  </a:txBody>
                  <a:tcPr marL="18356" marR="18356" marT="12237" marB="122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rtl="0">
                        <a:buNone/>
                      </a:pPr>
                      <a:endParaRPr lang="en-GB" sz="10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356" marR="18356" marT="12237" marB="122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2891035"/>
                  </a:ext>
                </a:extLst>
              </a:tr>
              <a:tr h="934174">
                <a:tc rowSpan="2"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ZA" sz="10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Reflection / Future Work</a:t>
                      </a:r>
                      <a:endParaRPr lang="en-ZA" sz="10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356" marR="18356" marT="12237" marB="122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0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 </a:t>
                      </a:r>
                      <a:r>
                        <a:rPr lang="en-GB" sz="1000" b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Explore Advanced Semi-Supervised Methods:</a:t>
                      </a:r>
                      <a:r>
                        <a:rPr lang="en-GB" sz="10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If given more time, we would explore more robust methods like </a:t>
                      </a:r>
                      <a:r>
                        <a:rPr lang="en-GB" sz="1000" b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MixMatch or FixMatch</a:t>
                      </a:r>
                      <a:r>
                        <a:rPr lang="en-GB" sz="10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instead of the simpler filtering-based Pseudo-Labelling approach.</a:t>
                      </a:r>
                    </a:p>
                  </a:txBody>
                  <a:tcPr marL="18356" marR="18356" marT="12237" marB="122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rtl="0">
                        <a:buNone/>
                      </a:pPr>
                      <a:endParaRPr lang="en-GB" sz="10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356" marR="18356" marT="12237" marB="122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1892172"/>
                  </a:ext>
                </a:extLst>
              </a:tr>
              <a:tr h="934174">
                <a:tc vMerge="1">
                  <a:txBody>
                    <a:bodyPr/>
                    <a:lstStyle/>
                    <a:p>
                      <a:pPr rtl="0">
                        <a:buNone/>
                      </a:pPr>
                      <a:endParaRPr lang="en-ZA" sz="10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356" marR="18356" marT="12237" marB="122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 </a:t>
                      </a:r>
                      <a:r>
                        <a:rPr lang="en-GB" sz="10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Hyperparameter Optimization (HPO):</a:t>
                      </a:r>
                      <a:r>
                        <a:rPr lang="en-GB" sz="1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The manual optimization of the learning rate scheduler and architecture choice (S vs. M) could be automated using frameworks like </a:t>
                      </a:r>
                      <a:r>
                        <a:rPr lang="en-GB" sz="1000" b="1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Optuna</a:t>
                      </a:r>
                      <a:r>
                        <a:rPr lang="en-GB" sz="1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to ensure the absolute best convergence.</a:t>
                      </a:r>
                    </a:p>
                  </a:txBody>
                  <a:tcPr marL="18356" marR="18356" marT="12237" marB="122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rtl="0">
                        <a:buNone/>
                      </a:pPr>
                      <a:endParaRPr lang="en-GB" sz="10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356" marR="18356" marT="12237" marB="122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99346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38984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54</TotalTime>
  <Words>1032</Words>
  <Application>Microsoft Office PowerPoint</Application>
  <PresentationFormat>On-screen Show (4:3)</PresentationFormat>
  <Paragraphs>136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Arial</vt:lpstr>
      <vt:lpstr>Bookman Old Style</vt:lpstr>
      <vt:lpstr>Rockwell</vt:lpstr>
      <vt:lpstr>Damask</vt:lpstr>
      <vt:lpstr>COS711 Assignment 3 — Automatically Labelling Radio Sources with Deep Learning</vt:lpstr>
      <vt:lpstr>Project Overview</vt:lpstr>
      <vt:lpstr>Team Members</vt:lpstr>
      <vt:lpstr>Methodology</vt:lpstr>
      <vt:lpstr>Dataset Breakdown</vt:lpstr>
      <vt:lpstr>Data Preparation &amp; Preprocessing</vt:lpstr>
      <vt:lpstr>Augmentation &amp; Processing</vt:lpstr>
      <vt:lpstr>Model Architecture</vt:lpstr>
      <vt:lpstr>Training Pipeline</vt:lpstr>
      <vt:lpstr>Pseudo-Labelling</vt:lpstr>
      <vt:lpstr>Results</vt:lpstr>
      <vt:lpstr>Evaluation Insights</vt:lpstr>
      <vt:lpstr>SAMple Predictions</vt:lpstr>
      <vt:lpstr>Class DISTRIBUTION Visual</vt:lpstr>
      <vt:lpstr>Deliverables</vt:lpstr>
      <vt:lpstr>Conclusions &amp; Future Work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Aidan Govender</cp:lastModifiedBy>
  <cp:revision>10</cp:revision>
  <dcterms:created xsi:type="dcterms:W3CDTF">2013-01-27T09:14:16Z</dcterms:created>
  <dcterms:modified xsi:type="dcterms:W3CDTF">2025-11-01T23:11:16Z</dcterms:modified>
  <cp:category/>
</cp:coreProperties>
</file>